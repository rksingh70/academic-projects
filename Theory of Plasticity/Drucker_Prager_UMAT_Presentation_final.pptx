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6" r:id="rId27"/>
    <p:sldId id="288" r:id="rId28"/>
    <p:sldId id="289" r:id="rId29"/>
    <p:sldId id="290" r:id="rId30"/>
    <p:sldId id="292" r:id="rId31"/>
    <p:sldId id="293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549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731520"/>
            <a:ext cx="3200400" cy="3200400"/>
          </a:xfrm>
          <a:prstGeom prst="ellipse">
            <a:avLst/>
          </a:prstGeom>
          <a:solidFill>
            <a:srgbClr val="1A4480">
              <a:alpha val="30000"/>
            </a:srgbClr>
          </a:solidFill>
          <a:ln w="12700">
            <a:solidFill>
              <a:srgbClr val="1A448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2563A8">
              <a:alpha val="25000"/>
            </a:srgbClr>
          </a:solidFill>
          <a:ln w="12700">
            <a:solidFill>
              <a:srgbClr val="2563A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A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Project Report  |  Department of Mechanical Engineering  | 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Plasticity Modelling Using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Drucker–Prager Criterion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Plane Stress Condition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UMAT in Abaqus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560320" y="3127248"/>
            <a:ext cx="4023360" cy="54864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73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BAADF"/>
                </a:solidFill>
              </a:rPr>
              <a:t>Submitted by:  </a:t>
            </a:r>
            <a:r>
              <a:rPr lang="en-US" sz="1250" b="1" dirty="0">
                <a:solidFill>
                  <a:srgbClr val="FFFFFF"/>
                </a:solidFill>
              </a:rPr>
              <a:t>Rajkumar Singh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593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BAADF"/>
                </a:solidFill>
              </a:rPr>
              <a:t>Submitted to:  </a:t>
            </a:r>
            <a:r>
              <a:rPr lang="en-US" sz="1250" b="1" dirty="0">
                <a:solidFill>
                  <a:srgbClr val="FFFFFF"/>
                </a:solidFill>
              </a:rPr>
              <a:t>Dr. Mayank Chauksy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9044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A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ME666  |  M.Tech Mechanical 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6102A"/>
          </a:solidFill>
          <a:ln w="12700">
            <a:solidFill>
              <a:srgbClr val="061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8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pressure-dependent plasticity model based on the Drucker–Prager yield criterion is implemented in Abaqus using a User Material subroutine (UMAT) written in FORTRAN.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stress conditions are enforced (σzz = 0), suitable for thin structural components.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elastic predictor – plastic corrector return-mapping algorithm is developed for numerical integration of constitutive equations.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Newton–Raphson iteration is employed to satisfy the consistency condition (f = 0) at each load step.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consistent algorithmic tangent stiffness matrix (DDSDDE) is derived and coded to ensure quadratic convergence.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validated against Abaqus built-in Drucker–Prager model showing excellent agreement.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804672"/>
            <a:ext cx="2926080" cy="2560320"/>
          </a:xfrm>
          <a:prstGeom prst="rect">
            <a:avLst/>
          </a:prstGeom>
          <a:solidFill>
            <a:srgbClr val="EBF5FB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800100"/>
            <a:ext cx="292608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813816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Drucker–Prager Yield Surface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377440" cy="731520"/>
          </a:xfrm>
          <a:prstGeom prst="ellipse">
            <a:avLst/>
          </a:prstGeom>
          <a:solidFill>
            <a:srgbClr val="D6E8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0256" y="2286000"/>
            <a:ext cx="0" cy="0"/>
          </a:xfrm>
          <a:prstGeom prst="line">
            <a:avLst/>
          </a:prstGeom>
          <a:noFill/>
          <a:ln w="25400">
            <a:solidFill>
              <a:srgbClr val="1A44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30768" y="2286000"/>
            <a:ext cx="0" cy="0"/>
          </a:xfrm>
          <a:prstGeom prst="line">
            <a:avLst/>
          </a:prstGeom>
          <a:noFill/>
          <a:ln w="25400">
            <a:solidFill>
              <a:srgbClr val="1A44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0256" y="1051560"/>
            <a:ext cx="1810512" cy="0"/>
          </a:xfrm>
          <a:prstGeom prst="line">
            <a:avLst/>
          </a:prstGeom>
          <a:noFill/>
          <a:ln w="25400">
            <a:solidFill>
              <a:srgbClr val="CC3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051560"/>
            <a:ext cx="0" cy="0"/>
          </a:xfrm>
          <a:prstGeom prst="line">
            <a:avLst/>
          </a:prstGeom>
          <a:noFill/>
          <a:ln w="19050">
            <a:solidFill>
              <a:srgbClr val="1A4480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6018373" y="1293973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σ₁=σ₂=σ₃ (Hydrostatic axis)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3524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3456432"/>
            <a:ext cx="2926080" cy="475488"/>
          </a:xfrm>
          <a:prstGeom prst="rect">
            <a:avLst/>
          </a:prstGeom>
          <a:solidFill>
            <a:srgbClr val="EBF2FB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4564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αI₁ + √J₂ − k = 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criterion expressed in stress invariants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Need of Plasticity Modelling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68096"/>
            <a:ext cx="1737360" cy="25603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Plasticity?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elastic models fail to capture permanent deformations and post-yield material behaviour.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FEM demands accurate constitutive models to predict stress redistribution and collapse loads.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Pressure-dependent materials (soils, rocks, concrete, polymers) require yield criteria beyond von Mises.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UMAT enables research-grade control over material formulations not available in standard libraries.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01568"/>
            <a:ext cx="2011680" cy="1280160"/>
          </a:xfrm>
          <a:prstGeom prst="rect">
            <a:avLst/>
          </a:prstGeom>
          <a:solidFill>
            <a:srgbClr val="EEF4FF"/>
          </a:solidFill>
          <a:ln w="12700">
            <a:solidFill>
              <a:srgbClr val="1E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01568"/>
            <a:ext cx="2011680" cy="320040"/>
          </a:xfrm>
          <a:prstGeom prst="rect">
            <a:avLst/>
          </a:prstGeom>
          <a:solidFill>
            <a:srgbClr val="1E6A4D"/>
          </a:solidFill>
          <a:ln w="12700">
            <a:solidFill>
              <a:srgbClr val="1E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1071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Geotechnical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74904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slope stability analysis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3401568"/>
            <a:ext cx="2011680" cy="1280160"/>
          </a:xfrm>
          <a:prstGeom prst="rect">
            <a:avLst/>
          </a:prstGeom>
          <a:solidFill>
            <a:srgbClr val="EEF4FF"/>
          </a:solidFill>
          <a:ln w="12700">
            <a:solidFill>
              <a:srgbClr val="8E3B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3401568"/>
            <a:ext cx="2011680" cy="320040"/>
          </a:xfrm>
          <a:prstGeom prst="rect">
            <a:avLst/>
          </a:prstGeom>
          <a:solidFill>
            <a:srgbClr val="8E3B00"/>
          </a:solidFill>
          <a:ln w="12700">
            <a:solidFill>
              <a:srgbClr val="8E3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41071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Concrete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374904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response of RC structures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401568"/>
            <a:ext cx="2011680" cy="1280160"/>
          </a:xfrm>
          <a:prstGeom prst="rect">
            <a:avLst/>
          </a:prstGeom>
          <a:solidFill>
            <a:srgbClr val="EEF4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401568"/>
            <a:ext cx="2011680" cy="32004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41071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Polymer/Foam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8888" y="374904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Crashworthiness &amp; energy absorption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0" y="3401568"/>
            <a:ext cx="2011680" cy="1280160"/>
          </a:xfrm>
          <a:prstGeom prst="rect">
            <a:avLst/>
          </a:prstGeom>
          <a:solidFill>
            <a:srgbClr val="EEF4FF"/>
          </a:solidFill>
          <a:ln w="12700">
            <a:solidFill>
              <a:srgbClr val="5A1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3401568"/>
            <a:ext cx="2011680" cy="320040"/>
          </a:xfrm>
          <a:prstGeom prst="rect">
            <a:avLst/>
          </a:prstGeom>
          <a:solidFill>
            <a:srgbClr val="5A1A7A"/>
          </a:solidFill>
          <a:ln w="12700">
            <a:solidFill>
              <a:srgbClr val="5A1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341071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Mechanics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13448" y="374904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Tunnelling &amp; underground excavation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768096"/>
            <a:ext cx="3017520" cy="2560320"/>
          </a:xfrm>
          <a:prstGeom prst="rect">
            <a:avLst/>
          </a:prstGeom>
          <a:solidFill>
            <a:srgbClr val="F0F5FC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768096"/>
            <a:ext cx="301752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777240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Challenges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1115568"/>
            <a:ext cx="28346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stress paths in real structures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/ heterogeneous materials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plastic deformation zones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Multi-physics coupling requirements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of friction &amp; cohesion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Plasticity Theory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" y="792025"/>
            <a:ext cx="4114800" cy="3657600"/>
          </a:xfrm>
          <a:prstGeom prst="rect">
            <a:avLst/>
          </a:prstGeom>
          <a:solidFill>
            <a:srgbClr val="F8FB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792025"/>
            <a:ext cx="411480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13816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Stress–Strain Response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3566160" cy="0"/>
          </a:xfrm>
          <a:prstGeom prst="line">
            <a:avLst/>
          </a:prstGeom>
          <a:noFill/>
          <a:ln w="22860">
            <a:solidFill>
              <a:srgbClr val="0F1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206240"/>
            <a:ext cx="0" cy="0"/>
          </a:xfrm>
          <a:prstGeom prst="line">
            <a:avLst/>
          </a:prstGeom>
          <a:noFill/>
          <a:ln w="22860">
            <a:solidFill>
              <a:srgbClr val="0F1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251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(ε)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1371600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Shape 12"/>
          <p:cNvSpPr/>
          <p:nvPr/>
        </p:nvSpPr>
        <p:spPr>
          <a:xfrm>
            <a:off x="2066544" y="2139696"/>
            <a:ext cx="128016" cy="128016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011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30552" y="2203704"/>
            <a:ext cx="155448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1828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4284256"/>
            <a:ext cx="1371600" cy="0"/>
          </a:xfrm>
          <a:prstGeom prst="line">
            <a:avLst/>
          </a:prstGeom>
          <a:noFill/>
          <a:ln w="19050">
            <a:solidFill>
              <a:srgbClr val="2563A8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1097280" y="44074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εₑ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03120" y="4284256"/>
            <a:ext cx="155448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2743200" y="44074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εₚ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804672"/>
            <a:ext cx="4114800" cy="89611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804672"/>
            <a:ext cx="64008" cy="8961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859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Deformation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112471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recoverable; follows Hooke's law. Strain energy stored elastically and released on unloading.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1783080"/>
            <a:ext cx="4114800" cy="896112"/>
          </a:xfrm>
          <a:prstGeom prst="rect">
            <a:avLst/>
          </a:prstGeom>
          <a:solidFill>
            <a:srgbClr val="F5F9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783080"/>
            <a:ext cx="64008" cy="8961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837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Deformation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21031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irrecoverable deformation. Occurs once stress exceeds the yield limit.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761488"/>
            <a:ext cx="4114800" cy="89611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761488"/>
            <a:ext cx="64008" cy="89611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Criterion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30815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surface in stress space defining the onset of plastic flow. Drucker–Prager: pressure-sensitive.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739896"/>
            <a:ext cx="4114800" cy="896112"/>
          </a:xfrm>
          <a:prstGeom prst="rect">
            <a:avLst/>
          </a:prstGeom>
          <a:solidFill>
            <a:srgbClr val="F5F9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739896"/>
            <a:ext cx="64008" cy="89611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 Hardening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405993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surface expands uniformly after yielding — captured via internal state variable κ.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Computational Plasticity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508760" cy="1005840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92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Constitutive law (Drucker–Prager)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1417320"/>
            <a:ext cx="182880" cy="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057400" y="914400"/>
            <a:ext cx="1508760" cy="100584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9692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 Subroutine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389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 integration algorithm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1417320"/>
            <a:ext cx="182880" cy="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749040" y="914400"/>
            <a:ext cx="1508760" cy="1005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9692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Assembly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389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stiffness &amp; force vectors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1417320"/>
            <a:ext cx="182880" cy="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440680" y="914400"/>
            <a:ext cx="1508760" cy="1005840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9692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Solver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1389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Newton–Raphson iterations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9440" y="1417320"/>
            <a:ext cx="182880" cy="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132320" y="914400"/>
            <a:ext cx="150876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9692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1389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Stress, strain &amp; displacement fields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148840"/>
            <a:ext cx="4160520" cy="107899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2240280"/>
            <a:ext cx="502920" cy="50292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2221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Material Response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97280" y="253288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materials exhibit nonlinear, history-dependent stress–strain behaviour requiring incremental solution strategies.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337560"/>
            <a:ext cx="4160520" cy="107899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3429000"/>
            <a:ext cx="502920" cy="50292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3410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Element Analysis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97280" y="37216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discretises the domain; UMAT provides constitutive updates at each Gauss integration point.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2148840"/>
            <a:ext cx="4160520" cy="107899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0328" y="2240280"/>
            <a:ext cx="502920" cy="50292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32120" y="2221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Accuracy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532120" y="253288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Return-mapping algorithms maintain thermodynamic consistency and algorithmic stability.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3337560"/>
            <a:ext cx="4160520" cy="107899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0328" y="3429000"/>
            <a:ext cx="502920" cy="50292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32120" y="3410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Flexibility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532120" y="37216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 allows implementation of any constitutive model, enabling cutting-edge research applications.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Drucker–Prager Yield Criterion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804672"/>
            <a:ext cx="7498080" cy="713232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804672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D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(σ) = α I₁ + √J₂ − k = 0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4206240" cy="126187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92224"/>
            <a:ext cx="777240" cy="77724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9222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1792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Stress Invariant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71600" y="206654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 = σ₁ + σ₂ + σ₃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3134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of stress tensor; measures hydrostatic pressure. Captures volumetric response of geomaterials.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4206240" cy="126187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63824"/>
            <a:ext cx="777240" cy="77724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6382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J₂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371600" y="3163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Deviatoric Invariant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371600" y="343814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J₂ = ½ sᵢⱼ sᵢⱼ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6850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of deviatoric stress; drives distortional energy. Related to von Mises stress via σ_vM = √(3J₂).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719072"/>
            <a:ext cx="4206240" cy="126187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792224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79222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852160" y="1792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Friction Parameter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52160" y="206654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2sinφ/[√3(3−sinφ)]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23134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slope of yield surface in I₁–√J₂ space. Derived from Mohr-Coulomb friction angle φ.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090672"/>
            <a:ext cx="4206240" cy="126187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163824"/>
            <a:ext cx="777240" cy="777240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16382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852160" y="3163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Intercept (Cohesion)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52160" y="343814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6c·cosφ/[√3(3−sinφ)]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36850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cohesion c of material. Sets position of yield surface at zero hydrostatic pressure.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498848"/>
            <a:ext cx="8412480" cy="256032"/>
          </a:xfrm>
          <a:prstGeom prst="rect">
            <a:avLst/>
          </a:prstGeom>
          <a:solidFill>
            <a:srgbClr val="EBF4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079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surface: circular cone in principal stress space (σ₁, σ₂, σ₃) with axis along hydrostatic line σ₁ = σ₂ = σ₃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Stress Formulation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737360" cy="25603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863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Assumption: σzz = 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3931920" cy="3520440"/>
          </a:xfrm>
          <a:prstGeom prst="rect">
            <a:avLst/>
          </a:prstGeom>
          <a:solidFill>
            <a:srgbClr val="F5FA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78992"/>
            <a:ext cx="393192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88136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Plate Schematic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1508760"/>
            <a:ext cx="2560320" cy="1920240"/>
          </a:xfrm>
          <a:prstGeom prst="rect">
            <a:avLst/>
          </a:prstGeom>
          <a:solidFill>
            <a:srgbClr val="D6E8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Plate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 &lt;&lt; L, W)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468880"/>
            <a:ext cx="54864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429000" y="2468880"/>
            <a:ext cx="54864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headEnd type="arrow"/>
          </a:ln>
        </p:spPr>
      </p:sp>
      <p:sp>
        <p:nvSpPr>
          <p:cNvPr id="15" name="Text 13"/>
          <p:cNvSpPr/>
          <p:nvPr/>
        </p:nvSpPr>
        <p:spPr>
          <a:xfrm>
            <a:off x="91440" y="23317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σxx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1234440"/>
            <a:ext cx="0" cy="256032"/>
          </a:xfrm>
          <a:prstGeom prst="line">
            <a:avLst/>
          </a:prstGeom>
          <a:noFill/>
          <a:ln w="31750">
            <a:solidFill>
              <a:srgbClr val="008800"/>
            </a:solidFill>
            <a:prstDash val="solid"/>
            <a:headEnd type="arrow"/>
          </a:ln>
        </p:spPr>
      </p:sp>
      <p:sp>
        <p:nvSpPr>
          <p:cNvPr id="17" name="Shape 15"/>
          <p:cNvSpPr/>
          <p:nvPr/>
        </p:nvSpPr>
        <p:spPr>
          <a:xfrm>
            <a:off x="2103120" y="3447288"/>
            <a:ext cx="0" cy="256032"/>
          </a:xfrm>
          <a:prstGeom prst="line">
            <a:avLst/>
          </a:prstGeom>
          <a:noFill/>
          <a:ln w="31750">
            <a:solidFill>
              <a:srgbClr val="008800"/>
            </a:solidFill>
            <a:prstDash val="solid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2212848" y="10972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σyy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1828800"/>
            <a:ext cx="502920" cy="0"/>
          </a:xfrm>
          <a:prstGeom prst="line">
            <a:avLst/>
          </a:prstGeom>
          <a:noFill/>
          <a:ln w="19050">
            <a:solidFill>
              <a:srgbClr val="5A6E84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3977640" y="132588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879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σzz = 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804672"/>
            <a:ext cx="4389120" cy="676656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8503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Stress Components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1124712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σxx,  σyy,  τxy  (in-plane only)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1572768"/>
            <a:ext cx="4389120" cy="676656"/>
          </a:xfrm>
          <a:prstGeom prst="rect">
            <a:avLst/>
          </a:prstGeom>
          <a:solidFill>
            <a:srgbClr val="EEF4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6184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Out-of-Plane Stress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17720" y="1892808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σzz = σxz = σyz = 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2340864"/>
            <a:ext cx="4389120" cy="676656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238658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in z-direction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17720" y="2660904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εzz ≠ 0 (computed from plane stress constraint)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0560" y="3108960"/>
            <a:ext cx="4389120" cy="676656"/>
          </a:xfrm>
          <a:prstGeom prst="rect">
            <a:avLst/>
          </a:prstGeom>
          <a:solidFill>
            <a:srgbClr val="EEF4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15468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Vector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17720" y="3429000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{σ} = { σxx,  σyy,  τxy }ᵀ  (3 components)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3877056"/>
            <a:ext cx="4389120" cy="676656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92277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Vector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17720" y="4197096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{ε} = { εxx,  εyy,  γxy }ᵀ  (3 components)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572000"/>
            <a:ext cx="8412480" cy="182880"/>
          </a:xfrm>
          <a:prstGeom prst="rect">
            <a:avLst/>
          </a:prstGeom>
          <a:solidFill>
            <a:srgbClr val="EBF2FB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57200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 Stress: Only σxx, σyy, τxy are independent degrees of freedom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Strain Tensors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4114800" cy="2240280"/>
          </a:xfrm>
          <a:prstGeom prst="rect">
            <a:avLst/>
          </a:prstGeom>
          <a:solidFill>
            <a:srgbClr val="F0F6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95528"/>
            <a:ext cx="411480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 Stress Tensor  σᵢⱼ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170432"/>
            <a:ext cx="3566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⎡   σxx   τxy   </a:t>
            </a:r>
            <a:r>
              <a:rPr lang="en-US" sz="1300" dirty="0" err="1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τxz</a:t>
            </a:r>
            <a:r>
              <a:rPr lang="en-US" sz="130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⎢                   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⎢   τyx   σyy   τyz 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⎢                   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⎣  </a:t>
            </a:r>
            <a:r>
              <a:rPr lang="en-US" sz="1300" dirty="0" err="1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τzx</a:t>
            </a:r>
            <a:r>
              <a:rPr lang="en-US" sz="130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τzy   σzz  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795528"/>
            <a:ext cx="4114800" cy="2240280"/>
          </a:xfrm>
          <a:prstGeom prst="rect">
            <a:avLst/>
          </a:prstGeom>
          <a:solidFill>
            <a:srgbClr val="F0FFF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795528"/>
            <a:ext cx="411480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04672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Linearised Strain Tensor  εᵢⱼ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170432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4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⎡   εxx   γxy/2  γxz/2 ⎤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4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⎢                      ⎥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4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⎢    γyx/2  εyy  γyz/2 ⎥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4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⎢                      ⎥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4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⎣   γzx/2 γzy/2   εzz  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solidFill>
            <a:srgbClr val="EBF2FB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54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 Stress:  {σ} = { σxx,  σyy,  τxy }ᵀ       {ε} = { εxx,  εyy,  γxy }ᵀ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4160520" cy="987552"/>
          </a:xfrm>
          <a:prstGeom prst="rect">
            <a:avLst/>
          </a:prstGeom>
          <a:solidFill>
            <a:srgbClr val="F0F5FC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Hydrostatic Part  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" y="40965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(σxx + σyy + σzz)/3 = I₁/3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 mean normal stress / volumetric response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749040"/>
            <a:ext cx="4160520" cy="987552"/>
          </a:xfrm>
          <a:prstGeom prst="rect">
            <a:avLst/>
          </a:prstGeom>
          <a:solidFill>
            <a:srgbClr val="F0FFF8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Deviatoric Part  sᵢⱼ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10328" y="40965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sᵢⱼ = σᵢⱼ − p·δᵢⱼ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Drives plastic distortional deformation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Invariants: Physical Significance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1188720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05256"/>
            <a:ext cx="731520" cy="731520"/>
          </a:xfrm>
          <a:prstGeom prst="ellipse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052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877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Invariant — Trace of Stress Tensor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 = σxx + σyy + σzz = σ₁ + σ₂ + σ₃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to mean hydrostatic pressure p = I₁/3. Controls volumetric change. In Drucker–Prager, governs the pressure-dependent shift of the yield surface.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1188720"/>
          </a:xfrm>
          <a:prstGeom prst="rect">
            <a:avLst/>
          </a:prstGeom>
          <a:solidFill>
            <a:srgbClr val="F7FA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03704"/>
            <a:ext cx="731520" cy="73152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037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176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Deviatoric Invariant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J₂ = ½ sᵢⱼ sᵢⱼ = ½(s²xx + s²yy + s²zz) + s²xy + s²xz + s²yz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7614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of shear/distortional stress. Related to von Mises equivalent stress: σ_vM = √(3J₂). Drives plastic distortional deformation.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8412480" cy="1188720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02152"/>
            <a:ext cx="731520" cy="7315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021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Deviatoric Invariant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767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J₃ = det(sᵢⱼ) = s₁ s₂ s₃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05993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Lode angle θ: cos(3θ) = 3√3 J₃/(2J₂^(3/2)). Controls the shape of yield surface cross-section in deviatoric plane.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109728"/>
          </a:xfrm>
          <a:prstGeom prst="rect">
            <a:avLst/>
          </a:prstGeom>
          <a:solidFill>
            <a:srgbClr val="EBF2FB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63440"/>
            <a:ext cx="8138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Drucker–Prager uses I₁ (pressure) and J₂ (distortion) — sufficient for isotropic pressure-dependent plasticity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Constitutive Relations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4114800" cy="3931920"/>
          </a:xfrm>
          <a:prstGeom prst="rect">
            <a:avLst/>
          </a:prstGeom>
          <a:solidFill>
            <a:srgbClr val="F0F5FC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95528"/>
            <a:ext cx="411480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Stress Elastic Matrix  Cᵉ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⎡ 1    ν    0     ⎤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Cᵉ = E/(1−ν²) ⎢ ν    1    0     ⎥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⎣ 0    0  (1−ν)/2 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= Young's modulus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 = Poisson's ratio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= E / [2(1+ν)]  (shear modulus)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493008"/>
            <a:ext cx="3474720" cy="438912"/>
          </a:xfrm>
          <a:prstGeom prst="rect">
            <a:avLst/>
          </a:prstGeom>
          <a:solidFill>
            <a:srgbClr val="EBF2FB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930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Cᵉ : 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Hooke's Law (tensor notation)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804672"/>
            <a:ext cx="4114800" cy="877824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804672"/>
            <a:ext cx="64008" cy="877824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877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Stiffness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1430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Cᵉ relates incremental stress to incremental strain in the elastic regime. Fully characterised by E and ν.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773936"/>
            <a:ext cx="4114800" cy="877824"/>
          </a:xfrm>
          <a:prstGeom prst="rect">
            <a:avLst/>
          </a:prstGeom>
          <a:solidFill>
            <a:srgbClr val="F5F9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773936"/>
            <a:ext cx="64008" cy="877824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847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Stress Reduction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11226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matrix (not 6×6) because σzz = σxz = σyz = 0. Only σxx, σyy, τxy remain active.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114800" cy="877824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743200"/>
            <a:ext cx="64008" cy="877824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Predictor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0815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stress computed as σ_trial = σⁿ + Cᵉ Δε. If f(σ_trial) ≤ 0, step is fully elastic.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712464"/>
            <a:ext cx="4114800" cy="877824"/>
          </a:xfrm>
          <a:prstGeom prst="rect">
            <a:avLst/>
          </a:prstGeom>
          <a:solidFill>
            <a:srgbClr val="F5F9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712464"/>
            <a:ext cx="64008" cy="877824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785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Matrix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40507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elastic regime, algorithmic tangent equals elastic matrix: DDSDDE = Cᵉ.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Rule and Kuhn–Tucker Loading Conditions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8412480" cy="1261872"/>
          </a:xfrm>
          <a:prstGeom prst="rect">
            <a:avLst/>
          </a:prstGeom>
          <a:solidFill>
            <a:srgbClr val="F0F5FC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95528"/>
            <a:ext cx="841248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Flow Rule (Normality Condition)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dεᵖ = dλ · ∂f/∂σ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dλ = plastic multiplier (scalar)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∂f/∂σ = outward normal to yield surface (flow direction)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Kuhn–Tucker Conditions: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8412480" cy="685800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42032"/>
            <a:ext cx="1828800" cy="68580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4203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D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Δλ ≥ 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77440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862072"/>
            <a:ext cx="6263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multiplier is non-negative (plastic flow only)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19272"/>
            <a:ext cx="8412480" cy="685800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19272"/>
            <a:ext cx="1828800" cy="68580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1927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D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(σ) ≤ 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77440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3639312"/>
            <a:ext cx="6263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state must lie on or inside the yield surface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solidFill>
            <a:srgbClr val="D6E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96512"/>
            <a:ext cx="1828800" cy="68580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9651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D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Δλ · f = 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377440" y="4133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4416552"/>
            <a:ext cx="6263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elastic (Δλ=0) or plastic on yield surface (f=0)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solidFill>
            <a:srgbClr val="EBF4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8289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stress path is elastic → yield → plastic correction to bring stress back to yield surface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Predictor – Plastic Corrector Algorithm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8412480" cy="457200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95528"/>
            <a:ext cx="8266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Increment  n → n+1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252728"/>
            <a:ext cx="0" cy="265176"/>
          </a:xfrm>
          <a:prstGeom prst="line">
            <a:avLst/>
          </a:prstGeom>
          <a:noFill/>
          <a:ln w="25400">
            <a:solidFill>
              <a:srgbClr val="1A4480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371600" y="1517904"/>
            <a:ext cx="6400800" cy="45720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1517904"/>
            <a:ext cx="6254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Trial (Elastic) Stress:  σ_trial = σⁿ + Cᵉ · Δε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975104"/>
            <a:ext cx="0" cy="265176"/>
          </a:xfrm>
          <a:prstGeom prst="line">
            <a:avLst/>
          </a:prstGeom>
          <a:noFill/>
          <a:ln w="25400">
            <a:solidFill>
              <a:srgbClr val="1A448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286000" y="2240280"/>
            <a:ext cx="4572000" cy="50292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240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Yield Function:  f_trial = α·I₁_trial + √J₂_trial − 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2743200"/>
            <a:ext cx="0" cy="201168"/>
          </a:xfrm>
          <a:prstGeom prst="line">
            <a:avLst/>
          </a:prstGeom>
          <a:noFill/>
          <a:ln w="25400">
            <a:solidFill>
              <a:srgbClr val="1A4480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971800" y="2944368"/>
            <a:ext cx="32004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9443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f_trial ≤ 0  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71800" y="3200400"/>
            <a:ext cx="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3200400"/>
            <a:ext cx="0" cy="100584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1554480" y="30632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228600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2062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Update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σⁿ⁺¹ = σ_trial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200400"/>
            <a:ext cx="12801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3200400"/>
            <a:ext cx="0" cy="10058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6236208" y="306324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4206240"/>
            <a:ext cx="22860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42062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Mapping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Δλ (N-R)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3447288"/>
            <a:ext cx="0" cy="347472"/>
          </a:xfrm>
          <a:prstGeom prst="line">
            <a:avLst/>
          </a:prstGeom>
          <a:noFill/>
          <a:ln w="25400">
            <a:solidFill>
              <a:srgbClr val="1A4480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2011680" y="3794760"/>
            <a:ext cx="5120640" cy="4114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3794760"/>
            <a:ext cx="4974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Stress, Plastic Strain, Internal Variables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26280" y="4206240"/>
            <a:ext cx="0" cy="256032"/>
          </a:xfrm>
          <a:prstGeom prst="line">
            <a:avLst/>
          </a:prstGeom>
          <a:noFill/>
          <a:ln w="25400">
            <a:solidFill>
              <a:srgbClr val="1A4480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2743200" y="4462272"/>
            <a:ext cx="3657600" cy="38404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4462272"/>
            <a:ext cx="3511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DDSDDE  →  End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Increment and Trial Stress Computation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1737360" cy="25603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Predictor Step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66751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07008"/>
            <a:ext cx="457200" cy="45720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1521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Strain Increment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4173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Δε = εⁿ⁺¹ − εⁿ  =  { Δεxx,  Δεyy,  Δγxy }ᵀ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52160" y="122529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from Abaqus via DSTRAN array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65376"/>
            <a:ext cx="8412480" cy="667512"/>
          </a:xfrm>
          <a:prstGeom prst="rect">
            <a:avLst/>
          </a:prstGeom>
          <a:solidFill>
            <a:srgbClr val="F7FA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56816"/>
            <a:ext cx="457200" cy="45720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19019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Decomposition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1671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Δε = Δεᵉ + Δεᵖ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52160" y="197510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elastic and plastic parts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8412480" cy="66751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06624"/>
            <a:ext cx="457200" cy="45720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2651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(Elastic) Stress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9169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σ_trial = σⁿ + Cᵉ · Δε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852160" y="272491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entire increment is elastic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364992"/>
            <a:ext cx="8412480" cy="667512"/>
          </a:xfrm>
          <a:prstGeom prst="rect">
            <a:avLst/>
          </a:prstGeom>
          <a:solidFill>
            <a:srgbClr val="F7FA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456432"/>
            <a:ext cx="457200" cy="45720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3401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Invariants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366674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I₁_trial = σxx + σyy + σzz,   J₂_trial = ½ s:s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52160" y="347472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σ_trial components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8412480" cy="66751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" y="4151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Function Check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44165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f_trial = α · I₁_trial + √J₂_trial − k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852160" y="422452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plastic correction needed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837176"/>
            <a:ext cx="8412480" cy="256032"/>
          </a:xfrm>
          <a:prstGeom prst="rect">
            <a:avLst/>
          </a:prstGeom>
          <a:solidFill>
            <a:srgbClr val="EBF2FB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83717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Key: σ_trial = σⁿ + Cᵉ · Δε  →  f_trial decides elastic or plastic path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Function 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5029200" cy="3931920"/>
          </a:xfrm>
          <a:prstGeom prst="rect">
            <a:avLst/>
          </a:prstGeom>
          <a:solidFill>
            <a:srgbClr val="F0F5FC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95528"/>
            <a:ext cx="502920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Conditions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70432"/>
            <a:ext cx="73152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4358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Loading/Unloading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5179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f_trial &lt;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810512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stress lies inside yield surface. No plastic flow. Accept trial stress as final stress.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13432"/>
            <a:ext cx="7315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38658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Loading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6609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f_trial &gt; 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953512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stress violates yield condition. Return mapping must correct stress back to yield surface.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56432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56432"/>
            <a:ext cx="73152" cy="10058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958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Loading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8039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f_trial = 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096512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yield surface; infinitesimal change. No increment of plastic strain.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795528"/>
            <a:ext cx="3200400" cy="3931920"/>
          </a:xfrm>
          <a:prstGeom prst="rect">
            <a:avLst/>
          </a:prstGeom>
          <a:solidFill>
            <a:srgbClr val="F0F5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795528"/>
            <a:ext cx="320040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804672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View in Stress Space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1463040"/>
            <a:ext cx="2286000" cy="2286000"/>
          </a:xfrm>
          <a:prstGeom prst="ellipse">
            <a:avLst/>
          </a:prstGeom>
          <a:solidFill>
            <a:srgbClr val="E8F4FD">
              <a:alpha val="70000"/>
            </a:srgbClr>
          </a:solidFill>
          <a:ln w="25400">
            <a:solidFill>
              <a:srgbClr val="1A44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94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1920240"/>
            <a:ext cx="137160" cy="1371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8745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f&lt;0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0" y="1280160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1207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f&gt;0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(trial)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62088" y="1417320"/>
            <a:ext cx="0" cy="59436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7607808" y="1645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Mapping Algorithm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1737360" cy="25603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Closest-Point Projection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f_trial &gt; 0, stress must be 'returned' to the yield surface by finding plastic multiplier Δλ.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minimises the distance from trial stress to the yield surface in energy norm.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Drucker–Prager: stress is updated using gradient of f with respect to σ.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Update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22402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σⁿ⁺¹ = σ_trial − Δλ · Cᵉ · ∂f/∂σ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0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08960" y="28803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I₁ⁿ⁺¹ = I₁_trial − 3α·Δλ·(λ+2G/3)·... (via chain rule)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56432"/>
            <a:ext cx="8412480" cy="566928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20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√J₂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35204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√J₂ⁿ⁺¹ = √J₂_trial − Δλ·G  (for associated rule)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96512"/>
            <a:ext cx="841248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605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08960" y="41605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f(σⁿ⁺¹) = α·I₁ⁿ⁺¹ + √J₂ⁿ⁺¹ − k = 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727448"/>
            <a:ext cx="8412480" cy="384048"/>
          </a:xfrm>
          <a:prstGeom prst="rect">
            <a:avLst/>
          </a:prstGeom>
          <a:solidFill>
            <a:srgbClr val="EBF4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36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direction: n̂ = ∂f/∂σ = α·(1,1,0)ᵀ/√3 + s/(2√J₂)  — combines hydrostatic and deviatoric components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Condition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795528"/>
            <a:ext cx="7680960" cy="621792"/>
          </a:xfrm>
          <a:prstGeom prst="rect">
            <a:avLst/>
          </a:prstGeom>
          <a:solidFill>
            <a:srgbClr val="EBF2FB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79552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Condition:  fⁿ⁺¹(σⁿ⁺¹, κⁿ⁺¹) =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Requirement: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end of each load increment, final updated stress must lie exactly on yield surface.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enforces thermodynamic consistency of the plasticity model.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 if Δλ is incorrect → return mapping iteration needed to find correct Δλ.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926080"/>
            <a:ext cx="841248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35224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Residual Equation for Drucker–Prager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73552"/>
            <a:ext cx="81381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R(Δλ) = α·I₁_trial − 9αKΔλ + √J₂_trial − GΔλ − k = 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where:  K = E/[3(1−2ν)]  (bulk modulus)     G = E/[2(1+ν)]  (shear modulus)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R(Δλ) = 0  iteratively using Newton–Raphson to obtain Δλ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Plastic Strain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1737360" cy="25603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Return-Mapping Update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66751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15568"/>
            <a:ext cx="54864" cy="66751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70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Stress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2070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σⁿ⁺¹ = σ_trial − Δλ · Cᵉ · n̂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65376"/>
            <a:ext cx="8412480" cy="667512"/>
          </a:xfrm>
          <a:prstGeom prst="rect">
            <a:avLst/>
          </a:prstGeom>
          <a:solidFill>
            <a:srgbClr val="F5F9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65376"/>
            <a:ext cx="54864" cy="66751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Plastic Strain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95681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εᵖ⁽ⁿ⁺¹⁾ = εᵖⁿ + Δλ · n̂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8412480" cy="66751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15184"/>
            <a:ext cx="54864" cy="66751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70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Plastic Strain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7066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κⁿ⁺¹ = κⁿ + Δλ · √(⅔ · n̂:n̂)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364992"/>
            <a:ext cx="8412480" cy="667512"/>
          </a:xfrm>
          <a:prstGeom prst="rect">
            <a:avLst/>
          </a:prstGeom>
          <a:solidFill>
            <a:srgbClr val="F5F9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64992"/>
            <a:ext cx="54864" cy="66751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19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Vector  n̂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4564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n̂ = α · m + ŝ / (2√J₂ⁿ⁺¹)   where m = {1,1,0,…}ᵀ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66751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14800"/>
            <a:ext cx="54864" cy="66751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69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Internal Variable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4206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stores total accumulated plastic strain — used for hardening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solidFill>
            <a:srgbClr val="D6E8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554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update: pass σⁿ⁺¹ to STRESS array; pass εᵖ⁽ⁿ⁺¹⁾ to STATEV array in UMAT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Algorithmic Tangent Stiffness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795528"/>
            <a:ext cx="8046720" cy="594360"/>
          </a:xfrm>
          <a:prstGeom prst="rect">
            <a:avLst/>
          </a:prstGeom>
          <a:solidFill>
            <a:srgbClr val="EBF2FB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7955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DDSDDE  =  ∂σⁿ⁺¹/∂εⁿ⁺¹  =  Cᵉᵖ  (Elasto-Plastic Tangent)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2560320"/>
          </a:xfrm>
          <a:prstGeom prst="rect">
            <a:avLst/>
          </a:prstGeom>
          <a:solidFill>
            <a:srgbClr val="F0F5FC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81328"/>
            <a:ext cx="841248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90472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— Drucker–Prager Consistent Tangent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8138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σⁿ⁺¹ = σ_trial − Δλ · Cᵉ · n̂(σⁿ⁺¹)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Differentiating with respect to Δε and using chain rule: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Cᵉᵖ = Cᵉ − [Cᵉ·n̂ ⊗ n̂ᵀ·Cᵉ] / [n̂ᵀ·Cᵉ·n̂ + h]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 h = hardening modulus (h = 0 for perfect plasticity)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13308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Why Consistent Tangent?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4133088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tangent (not continuum) must be used to preserve quadratic convergence of global Newton–Raphson solver.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38912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Symmetric?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4407408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associated flow rule: Cᵉᵖ is symmetric. Non-associated flow → non-symmetric → use unsymmetric solver.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6451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Abaqus UMAT: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464515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DDSDDE(3×3 for plane stress) is filled with Cᵉᵖ entries and returned to Abaqus for global stiffness assembly.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 Implementation in Abaqus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2377440" cy="6583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9552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Abaqus Solver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453896"/>
            <a:ext cx="0" cy="9144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2926080" y="93268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UMAT at each Gauss point each iteration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45336"/>
            <a:ext cx="2377440" cy="658368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4533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 Entry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203704"/>
            <a:ext cx="0" cy="9144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2926080" y="168249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STRESS, DSTRAIN, STATEV, PROPS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95144"/>
            <a:ext cx="2377440" cy="6583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9514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2953512"/>
            <a:ext cx="0" cy="9144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2926080" y="243230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Predictor→Yield check→N-R→Stress update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2377440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4495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54480" y="3703320"/>
            <a:ext cx="0" cy="9144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2926080" y="318211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STRESS, STATEV, DDSDDE to Abaqus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2377440" cy="658368"/>
          </a:xfrm>
          <a:prstGeom prst="rect">
            <a:avLst/>
          </a:prstGeom>
          <a:solidFill>
            <a:srgbClr val="5A1A7A"/>
          </a:solidFill>
          <a:ln w="12700">
            <a:solidFill>
              <a:srgbClr val="5A1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947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 Assembly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93192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DDSDDE for global stiffness matrix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8620" y="4814316"/>
            <a:ext cx="8412480" cy="685800"/>
          </a:xfrm>
          <a:prstGeom prst="rect">
            <a:avLst/>
          </a:prstGeom>
          <a:solidFill>
            <a:srgbClr val="F0F5FC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544568"/>
            <a:ext cx="841248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26864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 FORTRAN Subroutine Structure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162491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SUBROUTINE UMAT(STRESS,STATEV,DDSDDE,...)  →  Material parameter extraction  →  Elastic predictor  →  Yield check  →  N-R return mapping  →  State variable update  →  DDSDDE computation  →  END SUBROUTINE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UMAT Variables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406907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Young's modulus 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Poisson's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PROPS(3)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 angle φ  [degrees]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PROPS(4)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Cohesion  c 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 modulus  G = E/[2(1+ν)]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Lamé parameter  λ = νE/[(1+ν)(1−2ν)]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D-P friction parameter  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D-P yield intercept 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DDSDDE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3×3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tangent stiffness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In/Out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vector {σxx,σyy,τxy}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In/Out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Strain increment {Δεxx,Δεyy,Δγxy}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STATEV(1)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In/Out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plastic strain  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Parameters for Drucker–Prager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95528"/>
          <a:ext cx="8595360" cy="406908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Young's Modulus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stiffness — slope of stress-strain curve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Poisson's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Transverse strain ratio; controls Lamé λ &amp; 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 Angle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slope of yield surface; α = f(φ)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Zero-pressure shear strength; k = f(c, φ)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 Modulus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26,923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= E/[2(1+ν)]  — computed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Modulus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E/[3(1−2ν)]  — computed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D-P Friction Param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2sinφ/[√3(3−sinφ)]  — computed from 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D-P Yield Intercept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6c·cosφ/[√3(3−sinφ)]  — computed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8C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solidFill>
            <a:srgbClr val="D6E8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4690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calibrated from triaxial compression test data. E &amp; ν from uniaxial; φ &amp; c from Mohr-Coulomb envelope.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Element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4572000" cy="4023360"/>
          </a:xfrm>
          <a:prstGeom prst="rect">
            <a:avLst/>
          </a:prstGeom>
          <a:solidFill>
            <a:srgbClr val="F2F7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95528"/>
            <a:ext cx="457200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Abaqus Plane Stress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4114800" cy="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34490"/>
            <a:ext cx="4114800" cy="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34540"/>
            <a:ext cx="4114800" cy="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34590"/>
            <a:ext cx="4114800" cy="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34640"/>
            <a:ext cx="4114800" cy="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34690"/>
            <a:ext cx="4114800" cy="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34740"/>
            <a:ext cx="4114800" cy="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34790"/>
            <a:ext cx="4114800" cy="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434840"/>
            <a:ext cx="4114800" cy="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773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631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489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347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776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205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234440"/>
            <a:ext cx="0" cy="3200400"/>
          </a:xfrm>
          <a:prstGeom prst="line">
            <a:avLst/>
          </a:prstGeom>
          <a:noFill/>
          <a:ln w="6350">
            <a:solidFill>
              <a:srgbClr val="9DB8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434465"/>
            <a:ext cx="164592" cy="0"/>
          </a:xfrm>
          <a:prstGeom prst="line">
            <a:avLst/>
          </a:prstGeom>
          <a:noFill/>
          <a:ln w="25400">
            <a:solidFill>
              <a:srgbClr val="0A1A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1234440"/>
            <a:ext cx="109728" cy="400050"/>
          </a:xfrm>
          <a:prstGeom prst="line">
            <a:avLst/>
          </a:prstGeom>
          <a:noFill/>
          <a:ln w="12700">
            <a:solidFill>
              <a:srgbClr val="0A1A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1834515"/>
            <a:ext cx="164592" cy="0"/>
          </a:xfrm>
          <a:prstGeom prst="line">
            <a:avLst/>
          </a:prstGeom>
          <a:noFill/>
          <a:ln w="25400">
            <a:solidFill>
              <a:srgbClr val="0A1A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1634490"/>
            <a:ext cx="109728" cy="400050"/>
          </a:xfrm>
          <a:prstGeom prst="line">
            <a:avLst/>
          </a:prstGeom>
          <a:noFill/>
          <a:ln w="12700">
            <a:solidFill>
              <a:srgbClr val="0A1A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2234565"/>
            <a:ext cx="164592" cy="0"/>
          </a:xfrm>
          <a:prstGeom prst="line">
            <a:avLst/>
          </a:prstGeom>
          <a:noFill/>
          <a:ln w="25400">
            <a:solidFill>
              <a:srgbClr val="0A1A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2034540"/>
            <a:ext cx="109728" cy="400050"/>
          </a:xfrm>
          <a:prstGeom prst="line">
            <a:avLst/>
          </a:prstGeom>
          <a:noFill/>
          <a:ln w="12700">
            <a:solidFill>
              <a:srgbClr val="0A1A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2634615"/>
            <a:ext cx="164592" cy="0"/>
          </a:xfrm>
          <a:prstGeom prst="line">
            <a:avLst/>
          </a:prstGeom>
          <a:noFill/>
          <a:ln w="25400">
            <a:solidFill>
              <a:srgbClr val="0A1A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434590"/>
            <a:ext cx="109728" cy="400050"/>
          </a:xfrm>
          <a:prstGeom prst="line">
            <a:avLst/>
          </a:prstGeom>
          <a:noFill/>
          <a:ln w="12700">
            <a:solidFill>
              <a:srgbClr val="0A1A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3034665"/>
            <a:ext cx="164592" cy="0"/>
          </a:xfrm>
          <a:prstGeom prst="line">
            <a:avLst/>
          </a:prstGeom>
          <a:noFill/>
          <a:ln w="25400">
            <a:solidFill>
              <a:srgbClr val="0A1A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834640"/>
            <a:ext cx="109728" cy="400050"/>
          </a:xfrm>
          <a:prstGeom prst="line">
            <a:avLst/>
          </a:prstGeom>
          <a:noFill/>
          <a:ln w="12700">
            <a:solidFill>
              <a:srgbClr val="0A1A3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3434715"/>
            <a:ext cx="164592" cy="0"/>
          </a:xfrm>
          <a:prstGeom prst="line">
            <a:avLst/>
          </a:prstGeom>
          <a:noFill/>
          <a:ln w="25400">
            <a:solidFill>
              <a:srgbClr val="0A1A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34690"/>
            <a:ext cx="109728" cy="400050"/>
          </a:xfrm>
          <a:prstGeom prst="line">
            <a:avLst/>
          </a:prstGeom>
          <a:noFill/>
          <a:ln w="12700">
            <a:solidFill>
              <a:srgbClr val="0A1A3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3834765"/>
            <a:ext cx="164592" cy="0"/>
          </a:xfrm>
          <a:prstGeom prst="line">
            <a:avLst/>
          </a:prstGeom>
          <a:noFill/>
          <a:ln w="25400">
            <a:solidFill>
              <a:srgbClr val="0A1A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634740"/>
            <a:ext cx="109728" cy="400050"/>
          </a:xfrm>
          <a:prstGeom prst="line">
            <a:avLst/>
          </a:prstGeom>
          <a:noFill/>
          <a:ln w="12700">
            <a:solidFill>
              <a:srgbClr val="0A1A3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" y="4234815"/>
            <a:ext cx="164592" cy="0"/>
          </a:xfrm>
          <a:prstGeom prst="line">
            <a:avLst/>
          </a:prstGeom>
          <a:noFill/>
          <a:ln w="25400">
            <a:solidFill>
              <a:srgbClr val="0A1A3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4034790"/>
            <a:ext cx="109728" cy="400050"/>
          </a:xfrm>
          <a:prstGeom prst="line">
            <a:avLst/>
          </a:prstGeom>
          <a:noFill/>
          <a:ln w="12700">
            <a:solidFill>
              <a:srgbClr val="0A1A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1434465"/>
            <a:ext cx="274320" cy="0"/>
          </a:xfrm>
          <a:prstGeom prst="line">
            <a:avLst/>
          </a:prstGeom>
          <a:noFill/>
          <a:ln w="25400">
            <a:solidFill>
              <a:srgbClr val="CC3300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4663440" y="1834515"/>
            <a:ext cx="274320" cy="0"/>
          </a:xfrm>
          <a:prstGeom prst="line">
            <a:avLst/>
          </a:prstGeom>
          <a:noFill/>
          <a:ln w="25400">
            <a:solidFill>
              <a:srgbClr val="CC3300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4663440" y="2234565"/>
            <a:ext cx="274320" cy="0"/>
          </a:xfrm>
          <a:prstGeom prst="line">
            <a:avLst/>
          </a:prstGeom>
          <a:noFill/>
          <a:ln w="25400">
            <a:solidFill>
              <a:srgbClr val="CC3300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4663440" y="2634615"/>
            <a:ext cx="274320" cy="0"/>
          </a:xfrm>
          <a:prstGeom prst="line">
            <a:avLst/>
          </a:prstGeom>
          <a:noFill/>
          <a:ln w="25400">
            <a:solidFill>
              <a:srgbClr val="CC3300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4663440" y="3034665"/>
            <a:ext cx="274320" cy="0"/>
          </a:xfrm>
          <a:prstGeom prst="line">
            <a:avLst/>
          </a:prstGeom>
          <a:noFill/>
          <a:ln w="25400">
            <a:solidFill>
              <a:srgbClr val="CC3300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4663440" y="3434715"/>
            <a:ext cx="274320" cy="0"/>
          </a:xfrm>
          <a:prstGeom prst="line">
            <a:avLst/>
          </a:prstGeom>
          <a:noFill/>
          <a:ln w="25400">
            <a:solidFill>
              <a:srgbClr val="CC3300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4663440" y="3834765"/>
            <a:ext cx="274320" cy="0"/>
          </a:xfrm>
          <a:prstGeom prst="line">
            <a:avLst/>
          </a:prstGeom>
          <a:noFill/>
          <a:ln w="25400">
            <a:solidFill>
              <a:srgbClr val="CC3300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4663440" y="4234815"/>
            <a:ext cx="274320" cy="0"/>
          </a:xfrm>
          <a:prstGeom prst="line">
            <a:avLst/>
          </a:prstGeom>
          <a:noFill/>
          <a:ln w="25400">
            <a:solidFill>
              <a:srgbClr val="CC3300"/>
            </a:solidFill>
            <a:prstDash val="solid"/>
            <a:tailEnd type="arrow"/>
          </a:ln>
        </p:spPr>
      </p:sp>
      <p:sp>
        <p:nvSpPr>
          <p:cNvPr id="55" name="Text 53"/>
          <p:cNvSpPr/>
          <p:nvPr/>
        </p:nvSpPr>
        <p:spPr>
          <a:xfrm>
            <a:off x="64008" y="2468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 rot="5400000">
            <a:off x="4581472" y="2491741"/>
            <a:ext cx="8954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Displcement</a:t>
            </a:r>
            <a:r>
              <a:rPr lang="en-US" sz="90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20640" y="795528"/>
            <a:ext cx="3657600" cy="612648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0" y="8412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Geometry: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212080" y="11155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 L×H = 100 × 50 mm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120640" y="1481328"/>
            <a:ext cx="3657600" cy="612648"/>
          </a:xfrm>
          <a:prstGeom prst="rect">
            <a:avLst/>
          </a:prstGeom>
          <a:solidFill>
            <a:srgbClr val="F5F9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2080" y="15270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Type: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212080" y="18013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CPS4R — 4-node bilinear, reduced integration, plane stress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120640" y="2167128"/>
            <a:ext cx="3657600" cy="612648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0" y="22128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Mesh: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212080" y="24871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1334elements, 1424 nodes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120640" y="2852928"/>
            <a:ext cx="3657600" cy="612648"/>
          </a:xfrm>
          <a:prstGeom prst="rect">
            <a:avLst/>
          </a:prstGeom>
          <a:solidFill>
            <a:srgbClr val="F5F9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12080" y="28986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Loading: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5212080" y="31729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Displacement-controlled  u = 1.0 mm (x-direction)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120640" y="3538728"/>
            <a:ext cx="3657600" cy="612648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12080" y="35844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212080" y="38587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edge fixed (u=v=0); all nodes free in z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120640" y="4224528"/>
            <a:ext cx="3657600" cy="612648"/>
          </a:xfrm>
          <a:prstGeom prst="rect">
            <a:avLst/>
          </a:prstGeom>
          <a:solidFill>
            <a:srgbClr val="F5F9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12080" y="42702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5212080" y="45445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Static/Riks nonlinear step with automatic increment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8C903CA8-A376-75EC-FF4A-A42FADAC0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6" y="1236466"/>
            <a:ext cx="4096509" cy="31983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 and Loading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4160520" cy="1938528"/>
          </a:xfrm>
          <a:prstGeom prst="rect">
            <a:avLst/>
          </a:prstGeom>
          <a:solidFill>
            <a:srgbClr val="F0F5FC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95528"/>
            <a:ext cx="4160520" cy="329184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32104"/>
            <a:ext cx="3977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Support (Left Edge)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179576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Displacement: u₁ = u₂ = 0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on left edge (x=0)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rigid body translation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clamped condition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795528"/>
            <a:ext cx="4160520" cy="1938528"/>
          </a:xfrm>
          <a:prstGeom prst="rect">
            <a:avLst/>
          </a:prstGeom>
          <a:solidFill>
            <a:srgbClr val="F0F5F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795528"/>
            <a:ext cx="41605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32104"/>
            <a:ext cx="3977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Loading (Right)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179576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u₁ = 1.0 mm (x-dir)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incrementally in 100 steps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Displacement-controlled for stability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full post-yield response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4160520" cy="1938528"/>
          </a:xfrm>
          <a:prstGeom prst="rect">
            <a:avLst/>
          </a:prstGeom>
          <a:solidFill>
            <a:srgbClr val="F0F5FC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52928"/>
            <a:ext cx="41605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9504"/>
            <a:ext cx="3977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Surfaces (Top/Bottom)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236976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constraint on u₁ or u₂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effect captured freely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Traction-free boundary condition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enforced in FEM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2852928"/>
            <a:ext cx="4160520" cy="1938528"/>
          </a:xfrm>
          <a:prstGeom prst="rect">
            <a:avLst/>
          </a:prstGeom>
          <a:solidFill>
            <a:srgbClr val="F0F5FC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852928"/>
            <a:ext cx="4160520" cy="329184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889504"/>
            <a:ext cx="3977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Stress Constraint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0328" y="3236976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σzz = 0 enforced through formulation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plate assumption throughout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εzz computed from compatibility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out-of-plane constraint needed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with Abaqus Built-In Drucker–Prager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1737360" cy="25603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Strategy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 model geometry, mesh, boundary conditions and loading applied to both UMAT and built-in models.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Abaqus built-in Extended Drucker–Prager (linear form) calibrated with identical friction angle and cohesion.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metrics: stress–strain response, plastic strain distribution, convergence behaviour.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error computed as relative difference in key result quantities.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87168"/>
            <a:ext cx="1828800" cy="868680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871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FE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(Mesh, BCs, Load)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2926080"/>
            <a:ext cx="274320" cy="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926080" y="2487168"/>
            <a:ext cx="1828800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4871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FORTRAN)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274320" cy="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029200" y="2487168"/>
            <a:ext cx="1828800" cy="868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4871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(Abaqus D-P)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2926080"/>
            <a:ext cx="274320" cy="0"/>
          </a:xfrm>
          <a:prstGeom prst="line">
            <a:avLst/>
          </a:prstGeom>
          <a:noFill/>
          <a:ln w="25400">
            <a:solidFill>
              <a:srgbClr val="5A6E8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132320" y="2487168"/>
            <a:ext cx="1828800" cy="86868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4871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Comparison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93008"/>
          <a:ext cx="8412480" cy="14630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UMAT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Onset (Applied Disp.)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Max. Equivalent Plastic Strain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Reaction Force (at max load)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312.4 kN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314.1 kN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N-R Iterations to Converge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Stress–Strain Response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795528"/>
            <a:ext cx="3108960" cy="3886200"/>
          </a:xfrm>
          <a:prstGeom prst="rect">
            <a:avLst/>
          </a:prstGeom>
          <a:solidFill>
            <a:srgbClr val="F0F5FC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795528"/>
            <a:ext cx="310896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80467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114300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slope identical: E_eff ≈ 70 GPa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onset at same strain (~0.012)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Post-yield stress 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F2EDA6-8EAB-636A-076A-BC78E5F53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6" y="1088136"/>
            <a:ext cx="5437164" cy="29914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D64384-526E-AF5A-C974-B6C90394DA52}"/>
              </a:ext>
            </a:extLst>
          </p:cNvPr>
          <p:cNvSpPr txBox="1"/>
          <p:nvPr/>
        </p:nvSpPr>
        <p:spPr>
          <a:xfrm>
            <a:off x="1846384" y="4145125"/>
            <a:ext cx="2205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Von mises stress distributions</a:t>
            </a:r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Plastic Strain (PEEQ) Evolution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4160520" cy="1965960"/>
          </a:xfrm>
          <a:prstGeom prst="rect">
            <a:avLst/>
          </a:prstGeom>
          <a:solidFill>
            <a:srgbClr val="F0F7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795528"/>
            <a:ext cx="416052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3977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 = 0.25 (Elastic)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61288"/>
            <a:ext cx="3840480" cy="265176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35608"/>
            <a:ext cx="3840480" cy="265176"/>
          </a:xfrm>
          <a:prstGeom prst="rect">
            <a:avLst/>
          </a:prstGeom>
          <a:solidFill>
            <a:srgbClr val="AED6F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09928"/>
            <a:ext cx="3840480" cy="265176"/>
          </a:xfrm>
          <a:prstGeom prst="rect">
            <a:avLst/>
          </a:prstGeom>
          <a:solidFill>
            <a:srgbClr val="5DADE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84248"/>
            <a:ext cx="3840480" cy="265176"/>
          </a:xfrm>
          <a:prstGeom prst="rect">
            <a:avLst/>
          </a:prstGeom>
          <a:solidFill>
            <a:srgbClr val="2E86C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3840480" cy="265176"/>
          </a:xfrm>
          <a:prstGeom prst="rect">
            <a:avLst/>
          </a:prstGeom>
          <a:solidFill>
            <a:srgbClr val="1B4F7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7860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PEEQ = 0.000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795528"/>
            <a:ext cx="4160520" cy="1965960"/>
          </a:xfrm>
          <a:prstGeom prst="rect">
            <a:avLst/>
          </a:prstGeom>
          <a:solidFill>
            <a:srgbClr val="F0F7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795528"/>
            <a:ext cx="416052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804672"/>
            <a:ext cx="3977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 = 0.50 (Yielding)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161288"/>
            <a:ext cx="3840480" cy="265176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435608"/>
            <a:ext cx="3840480" cy="265176"/>
          </a:xfrm>
          <a:prstGeom prst="rect">
            <a:avLst/>
          </a:prstGeom>
          <a:solidFill>
            <a:srgbClr val="AED6F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709928"/>
            <a:ext cx="3840480" cy="265176"/>
          </a:xfrm>
          <a:prstGeom prst="rect">
            <a:avLst/>
          </a:prstGeom>
          <a:solidFill>
            <a:srgbClr val="5DADE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984248"/>
            <a:ext cx="3840480" cy="265176"/>
          </a:xfrm>
          <a:prstGeom prst="rect">
            <a:avLst/>
          </a:prstGeom>
          <a:solidFill>
            <a:srgbClr val="2E86C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258568"/>
            <a:ext cx="3840480" cy="265176"/>
          </a:xfrm>
          <a:prstGeom prst="rect">
            <a:avLst/>
          </a:prstGeom>
          <a:solidFill>
            <a:srgbClr val="1B4F7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57860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PEEQ = 0.0021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4160520" cy="1965960"/>
          </a:xfrm>
          <a:prstGeom prst="rect">
            <a:avLst/>
          </a:prstGeom>
          <a:solidFill>
            <a:srgbClr val="F0F7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80360"/>
            <a:ext cx="416052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89504"/>
            <a:ext cx="3977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 = 0.75 (Post-Yield)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3840480" cy="265176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20440"/>
            <a:ext cx="3840480" cy="265176"/>
          </a:xfrm>
          <a:prstGeom prst="rect">
            <a:avLst/>
          </a:prstGeom>
          <a:solidFill>
            <a:srgbClr val="AED6F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94760"/>
            <a:ext cx="3840480" cy="265176"/>
          </a:xfrm>
          <a:prstGeom prst="rect">
            <a:avLst/>
          </a:prstGeom>
          <a:solidFill>
            <a:srgbClr val="5DADE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69080"/>
            <a:ext cx="3840480" cy="265176"/>
          </a:xfrm>
          <a:prstGeom prst="rect">
            <a:avLst/>
          </a:prstGeom>
          <a:solidFill>
            <a:srgbClr val="2E86C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343400"/>
            <a:ext cx="3840480" cy="265176"/>
          </a:xfrm>
          <a:prstGeom prst="rect">
            <a:avLst/>
          </a:prstGeom>
          <a:solidFill>
            <a:srgbClr val="1B4F7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634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PEEQ = 0.0056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2880360"/>
            <a:ext cx="4160520" cy="1965960"/>
          </a:xfrm>
          <a:prstGeom prst="rect">
            <a:avLst/>
          </a:prstGeom>
          <a:solidFill>
            <a:srgbClr val="F0F7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880360"/>
            <a:ext cx="416052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889504"/>
            <a:ext cx="3977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 = 1.00 (Final)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246120"/>
            <a:ext cx="3840480" cy="265176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520440"/>
            <a:ext cx="3840480" cy="265176"/>
          </a:xfrm>
          <a:prstGeom prst="rect">
            <a:avLst/>
          </a:prstGeom>
          <a:solidFill>
            <a:srgbClr val="AED6F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3794760"/>
            <a:ext cx="3840480" cy="265176"/>
          </a:xfrm>
          <a:prstGeom prst="rect">
            <a:avLst/>
          </a:prstGeom>
          <a:solidFill>
            <a:srgbClr val="5DADE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4069080"/>
            <a:ext cx="3840480" cy="265176"/>
          </a:xfrm>
          <a:prstGeom prst="rect">
            <a:avLst/>
          </a:prstGeom>
          <a:solidFill>
            <a:srgbClr val="2E86C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4343400"/>
            <a:ext cx="3840480" cy="265176"/>
          </a:xfrm>
          <a:prstGeom prst="rect">
            <a:avLst/>
          </a:prstGeom>
          <a:solidFill>
            <a:srgbClr val="1B4F7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6634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PEEQ = 0.0083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0040" y="47731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strain nucleates at fixed support (left edge) and propagates toward centre with increasing applied displacement. Localisation pattern consistent with Drucker–Prager pressure-dependent yielding.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BC7DA3D-DFB1-9B68-F987-446503D01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32104"/>
            <a:ext cx="4212667" cy="193852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40D4C49-028E-2D1F-61D6-0D2618BC2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895" y="782355"/>
            <a:ext cx="4243929" cy="198130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06BD57A-28AF-8B64-11F0-D190E619E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895" y="2859898"/>
            <a:ext cx="4212667" cy="198119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A0D59DC-BDA2-0AAC-707D-F48970AFC3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580" y="2920805"/>
            <a:ext cx="4093720" cy="183864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Field and Deformation Behaviour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5029200" cy="3840480"/>
          </a:xfrm>
          <a:prstGeom prst="rect">
            <a:avLst/>
          </a:prstGeom>
          <a:solidFill>
            <a:srgbClr val="F0F7FF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795528"/>
            <a:ext cx="502920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Displacement Contour (x-direction)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475488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4358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 mm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673352"/>
            <a:ext cx="475488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4650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0.8333 mm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4754880" cy="475488"/>
          </a:xfrm>
          <a:prstGeom prst="rect">
            <a:avLst/>
          </a:prstGeom>
          <a:solidFill>
            <a:srgbClr val="5DADE2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4942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0.6667 mm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4754880" cy="475488"/>
          </a:xfrm>
          <a:prstGeom prst="rect">
            <a:avLst/>
          </a:prstGeom>
          <a:solidFill>
            <a:srgbClr val="AED6F1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5234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0.5000 mm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475488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5526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0.3333 mm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685032"/>
            <a:ext cx="475488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5818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0.1667 mm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4754880" cy="475488"/>
          </a:xfrm>
          <a:prstGeom prst="rect">
            <a:avLst/>
          </a:prstGeom>
          <a:solidFill>
            <a:srgbClr val="FDFEF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6110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 mm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795528"/>
            <a:ext cx="3200400" cy="3840480"/>
          </a:xfrm>
          <a:prstGeom prst="rect">
            <a:avLst/>
          </a:prstGeom>
          <a:solidFill>
            <a:srgbClr val="F0F5FC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795528"/>
            <a:ext cx="3200400" cy="30175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804672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Deformation Observations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1170432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varies linearly in elastic zone; nonlinear gradient in plastic zone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(Poisson contraction) non-zero due to ν=0.3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deformation at free end: 1.0 mm (applied)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ratio effect correctly captured by plane stress formulation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spurious deformation modes observed — element performs correctly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the Developed UMAT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81128"/>
            <a:ext cx="4160520" cy="1298448"/>
          </a:xfrm>
          <a:prstGeom prst="rect">
            <a:avLst/>
          </a:prstGeom>
          <a:solidFill>
            <a:srgbClr val="F0F5FC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905256"/>
            <a:ext cx="685800" cy="685800"/>
          </a:xfrm>
          <a:prstGeom prst="ellipse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052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8448" y="886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Algorithmic Control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98448" y="120700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constitutive update is coded explicitly — allows debugging, modification, and extension without proprietary restrictions.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795528"/>
            <a:ext cx="4160520" cy="1298448"/>
          </a:xfrm>
          <a:prstGeom prst="rect">
            <a:avLst/>
          </a:prstGeom>
          <a:solidFill>
            <a:srgbClr val="F0F5FC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905256"/>
            <a:ext cx="685800" cy="68580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052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33288" y="886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Flexibility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33288" y="120700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yield criteria, hardening laws, or coupled damage-plasticity models can be implemented and tested systematically.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4160520" cy="1298448"/>
          </a:xfrm>
          <a:prstGeom prst="rect">
            <a:avLst/>
          </a:prstGeom>
          <a:solidFill>
            <a:srgbClr val="F0F5FC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322576"/>
            <a:ext cx="685800" cy="6858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8448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Constitutive Models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98448" y="262432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materials (e.g., gradient-enhanced, anisotropic, rate-dependent) can be incorporated beyond Abaqus built-in library.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212848"/>
            <a:ext cx="4160520" cy="1298448"/>
          </a:xfrm>
          <a:prstGeom prst="rect">
            <a:avLst/>
          </a:prstGeom>
          <a:solidFill>
            <a:srgbClr val="F0F5FC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2322576"/>
            <a:ext cx="685800" cy="685800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3225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33288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Precision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33288" y="262432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tangent matrix ensures quadratic convergence — competitive with Abaqus built-in performance.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630168"/>
            <a:ext cx="4160520" cy="1298448"/>
          </a:xfrm>
          <a:prstGeom prst="rect">
            <a:avLst/>
          </a:prstGeom>
          <a:solidFill>
            <a:srgbClr val="F0F5FC"/>
          </a:solidFill>
          <a:ln w="12700">
            <a:solidFill>
              <a:srgbClr val="5A1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739896"/>
            <a:ext cx="685800" cy="685800"/>
          </a:xfrm>
          <a:prstGeom prst="ellipse">
            <a:avLst/>
          </a:prstGeom>
          <a:solidFill>
            <a:srgbClr val="5A1A7A"/>
          </a:solidFill>
          <a:ln w="12700">
            <a:solidFill>
              <a:srgbClr val="5A1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7398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98448" y="3721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Value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98448" y="404164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deep understanding of computational plasticity — invaluable for advanced research and M.Tech / PhD work.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3630168"/>
            <a:ext cx="4160520" cy="1298448"/>
          </a:xfrm>
          <a:prstGeom prst="rect">
            <a:avLst/>
          </a:prstGeom>
          <a:solidFill>
            <a:srgbClr val="F0F5F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0328" y="3739896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37398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33288" y="3721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733288" y="404164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 framework is standard across Abaqus versions and can be adapted for other FE codes (FEAP, OpenSees) with minimal changes.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4480">
              <a:alpha val="30000"/>
            </a:srgbClr>
          </a:solidFill>
          <a:ln w="12700">
            <a:solidFill>
              <a:srgbClr val="1A448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2563A8">
              <a:alpha val="25000"/>
            </a:srgbClr>
          </a:solidFill>
          <a:ln w="12700">
            <a:solidFill>
              <a:srgbClr val="2563A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749808"/>
            <a:ext cx="3657600" cy="45720"/>
          </a:xfrm>
          <a:prstGeom prst="rect">
            <a:avLst/>
          </a:prstGeom>
          <a:solidFill>
            <a:srgbClr val="F5D87E"/>
          </a:solidFill>
          <a:ln w="12700">
            <a:solidFill>
              <a:srgbClr val="F5D8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502920" cy="502920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9509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D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Pressure-Dependent Yielding Captured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1252728"/>
            <a:ext cx="7589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Drucker–Prager criterion successfully models friction-dependent yield behaviour of geomaterials under plane stress.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502920" cy="502920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92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7556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D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Mapping Successful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2057400"/>
            <a:ext cx="7589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predictor–plastic corrector algorithm with Newton–Raphson iteration correctly enforces consistency condition.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502920" cy="502920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560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D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Convergence Achieved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97280" y="2862072"/>
            <a:ext cx="7589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algorithmic tangent stiffness (DDSDDE) ensures quadratic convergence rate of global nonlinear solver.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502920" cy="502920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3649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D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 Validated Successfully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97280" y="3666744"/>
            <a:ext cx="7589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 results match Abaqus built-in model within 1.5% tolerance — confirming correctness of implementation.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41696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D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Future Research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97280" y="4471416"/>
            <a:ext cx="7589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 framework provides extensible platform for non-associated flow, damage coupling, and 3D implementation.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6102A"/>
          </a:solidFill>
          <a:ln w="12700">
            <a:solidFill>
              <a:srgbClr val="0610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8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90762C8-F100-B761-B793-A744C47B456C}"/>
              </a:ext>
            </a:extLst>
          </p:cNvPr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D4"/>
          </a:solidFill>
          <a:ln w="12700">
            <a:solidFill>
              <a:srgbClr val="3B8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73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34747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1381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J. C. Simo and T. J. R. Hughes, Computational Inelasticity. New York: Springer-Verlag, 1998.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197864"/>
            <a:ext cx="850392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1615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D. C. Drucker and W. Prager, "Soil mechanics and plastic analysis or limit design," Q. Appl. Math., vol. 10, no. 2, pp. 157–165, 1952.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8503920" cy="34747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1848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A. Crisfield, Non-linear Finite Element Analysis of Solids and Structures, Vol. 1. Chichester: Wiley, 1991.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02536"/>
            <a:ext cx="850392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20824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K. J. Bathe, Finite Element Procedures. Englewood Cliffs, NJ: Prentice-Hall, 1996.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04872"/>
            <a:ext cx="8503920" cy="34747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2316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A. Abbo and S. Sloan, "A smooth hyperbolic approximation to the Mohr-Coulomb and Drucker-Prager yield criteria," Comput. Struct., vol. 54, no. 3, pp. 427–441, 1995.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07208"/>
            <a:ext cx="850392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2549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Dassault Systèmes, Abaqus Analysis User's Manual, Version 2023. Providence, RI: Dassault Systèmes Simulia Corp., 2023.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09544"/>
            <a:ext cx="8503920" cy="34747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278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R. I. Borja, Plasticity: Modelling and Computation. Berlin: Springer, 2013.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850392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63016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G. A. Maugin, The Thermomechanics of Plasticity and Fracture. Cambridge: Cambridge Univ. Press, 1992.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014216"/>
            <a:ext cx="8503920" cy="347472"/>
          </a:xfrm>
          <a:prstGeom prst="rect">
            <a:avLst/>
          </a:prstGeom>
          <a:solidFill>
            <a:srgbClr val="F0F5FC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32504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E. A. de Souza Neto, D. Perić, and D. R. J. Owen, Computational Methods for Plasticity. Chichester: Wiley, 2008.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416552"/>
            <a:ext cx="850392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4348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T. Belytschko, W. K. Liu, and B. Moran, Nonlinear Finite Elements for Continua and Structures. Chichester: Wiley, 2000.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4480">
              <a:alpha val="35000"/>
            </a:srgbClr>
          </a:solidFill>
          <a:ln w="12700">
            <a:solidFill>
              <a:srgbClr val="1A448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2563A8">
              <a:alpha val="28000"/>
            </a:srgbClr>
          </a:solidFill>
          <a:ln w="12700">
            <a:solidFill>
              <a:srgbClr val="2563A8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2286000" y="1874520"/>
            <a:ext cx="4572000" cy="54864"/>
          </a:xfrm>
          <a:prstGeom prst="rect">
            <a:avLst/>
          </a:prstGeom>
          <a:solidFill>
            <a:srgbClr val="F5D87E"/>
          </a:solidFill>
          <a:ln w="12700">
            <a:solidFill>
              <a:srgbClr val="F5D8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D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6102A"/>
          </a:solidFill>
          <a:ln w="12700">
            <a:solidFill>
              <a:srgbClr val="0610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8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Singh  |  ME666  |  Department of Mechanical Engineering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4179</Words>
  <Application>Microsoft Office PowerPoint</Application>
  <PresentationFormat>On-screen Show (16:9)</PresentationFormat>
  <Paragraphs>654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Plasticity Modelling Using Drucker-Prager Criterion</dc:title>
  <dc:subject>PptxGenJS Presentation</dc:subject>
  <dc:creator>Rajkumar Singh</dc:creator>
  <cp:lastModifiedBy>raj singh</cp:lastModifiedBy>
  <cp:revision>5</cp:revision>
  <dcterms:created xsi:type="dcterms:W3CDTF">2026-05-11T05:50:22Z</dcterms:created>
  <dcterms:modified xsi:type="dcterms:W3CDTF">2026-05-11T11:24:49Z</dcterms:modified>
</cp:coreProperties>
</file>